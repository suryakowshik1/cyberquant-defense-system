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</a:defRPr>
            </a:pPr>
            <a:r>
              <a:t>DEFENSIVE CYBERSECURITY &amp; FINANCIAL CAPITAL OPTIMIZATION</a:t>
            </a:r>
          </a:p>
          <a:p>
            <a:pPr algn="ctr">
              <a:spcAft>
                <a:spcPts val="1200"/>
              </a:spcAft>
              <a:defRPr sz="4600" b="1">
                <a:solidFill>
                  <a:srgbClr val="F8FAFC"/>
                </a:solidFill>
              </a:defRPr>
            </a:pPr>
            <a:r>
              <a:t>CYBERQUANT AI</a:t>
            </a:r>
          </a:p>
          <a:p>
            <a:pPr algn="ctr">
              <a:spcAft>
                <a:spcPts val="2400"/>
              </a:spcAft>
              <a:defRPr sz="1800" b="1">
                <a:solidFill>
                  <a:srgbClr val="34D399"/>
                </a:solidFill>
              </a:defRPr>
            </a:pPr>
            <a:r>
              <a:t>How the Prototype Works, Quantitative Risk Mathematics, &amp; Profit/Loss Architecture</a:t>
            </a:r>
          </a:p>
          <a:p>
            <a:pPr algn="ctr">
              <a:spcAft>
                <a:spcPts val="2800"/>
              </a:spcAft>
              <a:defRPr sz="1300">
                <a:solidFill>
                  <a:srgbClr val="94A3B8"/>
                </a:solidFill>
              </a:defRPr>
            </a:pPr>
            <a:r>
              <a:t>Bridging Technical Vulnerabilities (CVSS/CVEs) to Indian Rupees (INR) • FAIR Framework • 0/1 Knapsack Optimizer</a:t>
            </a:r>
          </a:p>
          <a:p>
            <a:pPr algn="ctr">
              <a:defRPr sz="1100">
                <a:solidFill>
                  <a:srgbClr val="FBBF24"/>
                </a:solidFill>
              </a:defRPr>
            </a:pPr>
            <a:r>
              <a:t>Enterprise Demo &amp; Executive Presentation • Port 8000 Live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CYBERQUANT AI ARCHITECTURE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Core Problem: Technical CVEs vs Financial Budgets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THE PROBLEM STATEMENT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The Language Disconnect: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SOC teams report thousands of technical CVEs (e.g. CVSS 9.8, SQLi, Buffer Overflows), but CEOs and CFOs speak strictly in financial terms (Loss Expectancy &amp; INR Budgets).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The Capital Allocation Dilemma: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Organizations face limited cybersecurity budgets (e.g., Rs 15 Lakhs). Leaders do not know which vulnerability to fix first or which security controls provide the best return.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Double Counting &amp; Waste: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Companies purchase overlapping tools (e.g. multiple firewalls) that suffer from diminishing returns without quantifying actual risk reduction.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Subjective Risk Matrices: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Traditional 'Low/Medium/High' heatmaps are arbitrary and fail to provide mathematically defensible ROI justifications for boardrooms.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THE CYBERQUANT AI SOLUTION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Quantitative Financial Translation: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Implements the international FAIR (Factor Analysis of Information Risk) standard to convert CVEs directly into Annualized Loss Expectancy (ALE in INR).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Discrete 0/1 Knapsack Optimization: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Uses mathematical dynamic programming to determine the exact combination of security controls that maximizes loss avoided within any budget constraint.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Provable Security ROI %: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Demonstrates tangible financial returns (e.g. +337% to +739% ROI) proving to CFOs that security spending protects enterprise balance sheets.</a:t>
            </a:r>
          </a:p>
          <a:p>
            <a:pPr>
              <a:spcBef>
                <a:spcPts val="800"/>
              </a:spcBef>
              <a:defRPr b="1" sz="1100">
                <a:solidFill>
                  <a:srgbClr val="F8FAFC"/>
                </a:solidFill>
              </a:defRPr>
            </a:pPr>
            <a:r>
              <a:t>• 360-Degree Defense Cockpit: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Combines internal infrastructure risk modeling with a live passive Website Vulnerability Scanner &amp; Layer 7 WAF.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CYBERQUANT AI ARCHITECTURE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How the Prototype Operates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Layer 1: Visual Cockpit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Three.js 3D Earth Globe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Interactive WebGL cyber globe with active threat nodes and SOC badges.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Dark SOC Cockpit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Responsive Tailwind CSS UI with full-screen access gate and biometric HUD.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Real-Time Sliders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Dynamic budget sliders (Rs 1L - Rs 25L) with instant recalculation.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Executive Export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Single-click C-Suite executive briefing PDF and technical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4688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Layer 2: Gateway &amp; Security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Layer 7 WAF Middleware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Deep packet inspection intercepting SQLi, XSS, and credential stuffing.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Multi-User Auth Gate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Role-based access control for CISO ('admin') and Risk Admin ('cyber admin').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OTP Recovery Engine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SHA-256 hashed password store with email OTP self-service recovery.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Audit Telemetry Log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SQLite-backed tamper-resistant audit registry recording 127+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4688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Layer 3: Analytics Engines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FAIR Quantitative Engine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Derives SLE, ARO, and ALE directly from asset values and CVSS metrics.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0/1 Knapsack Optimizer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Dynamic programming engine selecting max-ROI controls under budget.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Monte Carlo Simulator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10,000-iteration Poisson x Log-Normal Value-at-Risk (VaR 95%) analysis.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NIST 5x5 Matrix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Likelihood vs Impact classification across all organizational assets.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4688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Layer 4: Data &amp; External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SQLite Relational Core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Normalized schema: assets, vulnerabilities, security_controls, users.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Passive Website Scanner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Audits SSL/TLS, 7 HTTP headers, Cookie security, and Tech stacks.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CVE &amp; EPSS Database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Automated correlation mapping discovered versions to real exploit CVEs.</a:t>
            </a:r>
          </a:p>
          <a:p>
            <a:pPr>
              <a:spcBef>
                <a:spcPts val="800"/>
              </a:spcBef>
              <a:defRPr b="1" sz="950">
                <a:solidFill>
                  <a:srgbClr val="F8FAFC"/>
                </a:solidFill>
              </a:defRPr>
            </a:pPr>
            <a:r>
              <a:t>▸ RESTful API Pipeline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FastAPI backend serving OpenAPI docs at /docs and high-throughput endpoints.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CYBERQUANT AI ARCHITECTURE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Engine 1: International FAIR Quantitative Risk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1. SINGLE LOSS EXPECTANCY (SLE)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SLE = Asset Value × Exposure Factor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• Asset Value: Business cost to replace asset or recover leaked PII/PCI data.</a:t>
            </a:r>
            <a:br/>
            <a:r>
              <a:t>• Exposure Factor (EF): Estimated % damage of a single breach (e.g. 80%).</a:t>
            </a:r>
            <a:br/>
            <a:r>
              <a:t>• Customer DB Example: Rs 50L × 0.80 = Rs 40,00,000 SLE.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21945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2. ANNUALIZED RATE (ARO)</a:t>
            </a:r>
          </a:p>
          <a:p>
            <a:pPr>
              <a:spcBef>
                <a:spcPts val="600"/>
              </a:spcBef>
              <a:defRPr sz="1150" b="1">
                <a:solidFill>
                  <a:srgbClr val="F8FAFC"/>
                </a:solidFill>
              </a:defRPr>
            </a:pPr>
            <a:r>
              <a:t>ARO = Likelihood × (CVSS / 10) × Exploitability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• Threat Likelihood: Statistical exploit probability per annum.</a:t>
            </a:r>
            <a:br/>
            <a:r>
              <a:t>• CVSS 3.1 Severity: Technical vulnerability rating (0.0 to 10.0).</a:t>
            </a:r>
            <a:br/>
            <a:r>
              <a:t>• Exploitability: Availability of public functional exploit code / PoC.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291840" cy="21945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00200"/>
            <a:ext cx="2926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3. ANNUALIZED LOSS (ALE)</a:t>
            </a:r>
          </a:p>
          <a:p>
            <a:pPr>
              <a:spcBef>
                <a:spcPts val="600"/>
              </a:spcBef>
              <a:defRPr sz="1300" b="1">
                <a:solidFill>
                  <a:srgbClr val="F8FAFC"/>
                </a:solidFill>
              </a:defRPr>
            </a:pPr>
            <a:r>
              <a:t>ALE = SLE × ARO (INR / Year)</a:t>
            </a:r>
          </a:p>
          <a:p>
            <a:pPr>
              <a:spcBef>
                <a:spcPts val="600"/>
              </a:spcBef>
              <a:defRPr sz="900">
                <a:solidFill>
                  <a:srgbClr val="94A3B8"/>
                </a:solidFill>
              </a:defRPr>
            </a:pPr>
            <a:r>
              <a:t>• The cornerstone metric used by CISOs and CFOs.</a:t>
            </a:r>
            <a:br/>
            <a:r>
              <a:t>• Quantifies expected financial bleeding per year if left unpatched.</a:t>
            </a:r>
            <a:br/>
            <a:r>
              <a:t>• Baseline Organization Total: Rs 39,70,260 / year.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10149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5B4FC"/>
                </a:solidFill>
              </a:defRPr>
            </a:pPr>
            <a:r>
              <a:t>COMPOSITE 0-100 RISK SCORE &amp; DIMINISHING RETURNS MECHANISM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Technical Severity Integration: Tech Score = (CVSS × 55%) + (Exploitability × 25%) + (Threat Likelihood × 20%).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• Business Context Weighting: Business Factor = (Criticality Weight × 60%) + (Data Sensitivity Weight × 40%) × Perimeter Multiplier (1.25x if Internet Exposed).</a:t>
            </a:r>
          </a:p>
          <a:p>
            <a:pPr>
              <a:spcBef>
                <a:spcPts val="300"/>
              </a:spcBef>
              <a:defRPr sz="950">
                <a:solidFill>
                  <a:srgbClr val="22D3EE"/>
                </a:solidFill>
              </a:defRPr>
            </a:pPr>
            <a:r>
              <a:t>• Compounding Diminishing Returns: If Control A reduces risk by 40% and Control B reduces by 30%, Control B acts on the residual 60% (preventing unrealistic 70% claims): Residual = Base × (1 - E_A) × (1 - E_B). This prevents double-counting and mirrors real-world security efficacy.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CYBERQUANT AI ARCHITECTURE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Engine 2: 0/1 Knapsack Capital Allocation Algorithm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MATHEMATICAL 0/1 KNAPSACK FORMULATION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Objective Function: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Maximize Total Loss Avoided (INR): Maximize Σ (LossAvoided_i × x_i), where x_i ∈ {0, 1} indicates whether security control i is deployed.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Budget Constraint: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Subject to: Σ (Cost_i × x_i) ≤ Budget (e.g. Rs 15,00,000). Controls cannot be partially bought; each decision is binary (0 or 1).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Dynamic Programming Execution: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Constructs a dynamic state table DP[i][w] representing max loss prevented considering first i controls with budget w in Rs 1,000 increments.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Security ROI Formula: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For each control and overall portfolio: ROI % = ((Loss Avoided - Control Cost) / Control Cost) × 100%. Demonstrates value per rupee invested.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• Optimal Global Efficiency: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Guarantees mathematically optimal capital allocation over greedy heuristics, ensuring maximum board-level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AI-GENERATED TECHNICAL ROADMAP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▸ Phase A (Weeks 1-2: Critical Patching):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Deploy Vulnerability Patching Automation to eliminate Critical RCE (CVE-2024-3400) on Customer DB. Yields Rs 16.68L in direct loss avoided.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▸ Phase B (Weeks 3-4: Perimeter &amp; Data Armor):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Implement Air-Gapped Immutable Backups (RTO &lt; 4h) and Zero-Trust MFA. Shields web apps, payment servers, and workstation fleets against credential hijacking.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▸ Phase C (Weeks 5-6: Deep Perimeter Defense):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Deploy Cloudflare Next-Gen WAF for L7 inspection (blocking SQLi, XSS, automated brute-force attacks).</a:t>
            </a:r>
          </a:p>
          <a:p>
            <a:pPr>
              <a:spcBef>
                <a:spcPts val="800"/>
              </a:spcBef>
              <a:defRPr b="1" sz="1050">
                <a:solidFill>
                  <a:srgbClr val="F8FAFC"/>
                </a:solidFill>
              </a:defRPr>
            </a:pPr>
            <a:r>
              <a:t>▸ Phase D (Month 2+: Enterprise Zero-Trust &amp; SOC):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Complete network micro-segmentation and activate 24/7 Managed SOC SIEM telemetry monitoring for continuous threat containment.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CYBERQUANT AI ARCHITECTURE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Engine 3: Dual-Layer Defense (Passive Scanner &amp; Layer 7 WAF)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PASSIVE WEBSITE VULNERABILITY AUDITOR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Non-Invasive Cloud Reconnaissance: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Audits public HTTP responses without brute-forcing or crashing target systems, matching commercial Pentest-Tools capabilities.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SSL/TLS &amp; Port Security: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Inspects certificate validity, days to expiry, cipher strength, and scans standard web ports (80, 443, 8080, 8443).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7 HTTP Security Headers: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Deep validation of HSTS, CSP, X-Frame-Options, X-Content-Type-Options, Referrer-Policy, and Permissions-Policy.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Cookie Security Flags: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Enforces HttpOnly (XSS protection), Secure flag (HTTPS transit), and SameSite attribute (CSRF prevention).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Version CVE &amp; EPSS Correlation: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Detects software stacks (PHP 5.6, jQuery 1.12.4, Apache, Joomla) and maps them to real CVEs and exploit probabilities.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REAL-TIME LAYER 7 WAF MIDDLEWARE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In-Line Request Interception: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Mounted directly inside FastAPI pipeline (app/waf.py). Sanitizes every incoming query parameter, header, and JSON payload before reaching endpoints.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SQL Injection (SQLi) Shield: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Pattern matching against UNION SELECT, SLEEP(), OR 1=1, hex encoding, and multi-query delimiters with instant HTTP 403 blocking.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Cross-Site Scripting (XSS) Filter: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Blocks script injection (&lt;script&gt;, javascript:, onerror=, SVG onload payloads) preventing credential hijacking.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Credential Stuffing Guard: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Monitors login velocity and rate limits suspicious brute-force attempts targeting administrative portals.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WAF Live Telemetry Dashboard: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Provides real-time blocked attack counters, threat categorizations, and SOC audit trails.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ORGANIZATIONAL BASELINE (BEFORE CONTROLS)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Financial Analysis: Potential Losses &amp; Baseline Vulnerability Reality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2D3EE"/>
                </a:solidFill>
              </a:defRPr>
            </a:pPr>
            <a:r>
              <a:t>TOTAL ASSET PORTFOLIO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Rs. 1,50,00,000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Rs 1.50 Crore across 5 critical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7171"/>
                </a:solidFill>
              </a:defRPr>
            </a:pPr>
            <a:r>
              <a:t>BASELINE RISK SCORE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69.2 / 100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Medium/High (NIST SP 800-30 Bracket)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38328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BBF24"/>
                </a:solidFill>
              </a:defRPr>
            </a:pPr>
            <a:r>
              <a:t>ANNUAL LOSS EXPECTANCY (ALE)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Rs. 39,70,260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Expected financial loss per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10698480" cy="3291840"/>
          </a:xfrm>
          <a:prstGeom prst="roundRect">
            <a:avLst/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CRITICAL ASSET EXPOSURE INVENTORY (SQLite cyber_risk.db)</a:t>
            </a:r>
          </a:p>
          <a:p>
            <a:pPr>
              <a:spcBef>
                <a:spcPts val="600"/>
              </a:spcBef>
              <a:defRPr b="1" sz="950">
                <a:solidFill>
                  <a:srgbClr val="22D3EE"/>
                </a:solidFill>
              </a:defRPr>
            </a:pPr>
            <a:r>
              <a:t>Asset Name                   Asset Value      CVE Vulnerability                  CVSS     SLE (Potential Loss)   Baseline ALE / Year</a:t>
            </a:r>
          </a:p>
          <a:p>
            <a:pPr>
              <a:spcBef>
                <a:spcPts val="300"/>
              </a:spcBef>
              <a:defRPr sz="850">
                <a:solidFill>
                  <a:srgbClr val="F8FAFC"/>
                </a:solidFill>
              </a:defRPr>
            </a:pPr>
            <a:r>
              <a:t>Customer Database            Rs. 50,00,000    CVE-2024-3400 (Critical SQLi / RCE) 9.8      Rs. 40,00,000          Rs. 17,64,000 (44.4% of total)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Web Application (Sales)      Rs. 25,00,000    CVE-2023-38606 (Session Hijacking) 8.4      Rs. 17,50,000          Rs. 8,92,500 (22.5% of total)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Payment Processing Server    Rs. 40,00,000    CVE-2024-21413 (Deserialization)   9.1      Rs. 30,00,000          Rs. 10,80,000 (27.2% of total)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Employee Endpoint Network    Rs. 20,00,000    CVE-2024-21338 (Kernel Driver EoP) 7.8      Rs. 12,00,000          Rs. 3,60,360 (9.1% of total)</a:t>
            </a:r>
          </a:p>
          <a:p>
            <a:pPr>
              <a:spcBef>
                <a:spcPts val="300"/>
              </a:spcBef>
              <a:defRPr sz="850">
                <a:solidFill>
                  <a:srgbClr val="94A3B8"/>
                </a:solidFill>
              </a:defRPr>
            </a:pPr>
            <a:r>
              <a:t>Internal File Server &amp; NAS   Rs. 15,00,000    CVE-2023-4911 (Buffer Overflow)    7.2      Rs. 7,50,000           Rs. 1,13,400 (2.9% of total)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POST-OPTIMIZATION FINANCIAL GAINS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Financial Analysis: Profits, Net Savings, &amp; Return on Security Investment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544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RISK SCORE REDUCTION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69.2 ➔ 11.7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-57.5 pts (83.1% Risk Drop)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1463040"/>
            <a:ext cx="256032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39" y="15544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2D3EE"/>
                </a:solidFill>
              </a:defRPr>
            </a:pPr>
            <a:r>
              <a:t>ANNUAL LOSS AVOIDED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Rs. 34,54,743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Financial exposure prevented /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1463040"/>
            <a:ext cx="256032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6207" y="15544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FBBF24"/>
                </a:solidFill>
              </a:defRPr>
            </a:pPr>
            <a:r>
              <a:t>NET FINANCIAL SAVINGS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Rs. 26,64,743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Pure financial profit after tool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78824" y="1463040"/>
            <a:ext cx="2560320" cy="128016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51976" y="155448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855F7"/>
                </a:solidFill>
              </a:defRPr>
            </a:pPr>
            <a:r>
              <a:t>SECURITY ROI %</a:t>
            </a:r>
          </a:p>
          <a:p>
            <a:pPr>
              <a:defRPr sz="1700" b="1">
                <a:solidFill>
                  <a:srgbClr val="F8FAFC"/>
                </a:solidFill>
              </a:defRPr>
            </a:pPr>
            <a:r>
              <a:t>+337.3%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Net profit per rupee invested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632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4D399"/>
                </a:solidFill>
              </a:defRPr>
            </a:pPr>
            <a:r>
              <a:t>FULL DEFENSE SUITE (RS. 15,00,000 BUDGET ALLOCATION)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Total Capital Allocated: Rs. 7,90,000 (all 8 controls deployed)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Budget Remaining / Surplus: Rs. 7,10,000 retained on balance sheet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Residual Annual Loss (ALE): Rs. 5,15,516 (dropped from Rs. 39.70 Lakhs)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Annual Financial Protection: Rs. 34,54,743 avoided every single year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Net Annual Financial Savings: Rs. 26,64,743 in pure bottom-line value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Value-at-Risk Protection: 95% VaR tail risk reduced by Rs 74.11 Lakhs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LEAN CAPITAL ALLOCATION (RS. 3,00,000 BUDGET SCENARIO)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Optimized Cost Utilized: Rs. 2,90,000 (Top 4 critical controls deployed)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Selected Controls: Patch Automation, Backups, Zero-Trust MFA, Phishing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Risk Score Drop: 69.2 ➔ 29.2 (57.8% Risk Reduction)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Annual Loss Avoided: Rs. 24,33,951 in high-risk loss prevented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Net Financial Savings: Rs. 21,43,951 Net Profit</a:t>
            </a:r>
          </a:p>
          <a:p>
            <a:pPr>
              <a:spcBef>
                <a:spcPts val="400"/>
              </a:spcBef>
              <a:defRPr sz="900">
                <a:solidFill>
                  <a:srgbClr val="F8FAFC"/>
                </a:solidFill>
              </a:defRPr>
            </a:pPr>
            <a:r>
              <a:t>• Maximum Security ROI: +739.3% Return on Investment (8.4x return on spend)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CYBERQUANT AI ARCHITECTURE &amp; FINANCIAL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 Controls Prioritization &amp; Return on Investment (ROI)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4846320"/>
          </a:xfrm>
          <a:prstGeom prst="roundRect">
            <a:avLst/>
          </a:prstGeom>
          <a:solidFill>
            <a:srgbClr val="11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</a:defRPr>
            </a:pPr>
            <a:r>
              <a:t>DISCRETE CONTROLS EFFICACY BREAKDOWN (ORDERED BY FINANCIAL EFFICIENCY)</a:t>
            </a:r>
          </a:p>
          <a:p>
            <a:pPr>
              <a:spcBef>
                <a:spcPts val="800"/>
              </a:spcBef>
              <a:defRPr b="1" sz="950">
                <a:solidFill>
                  <a:srgbClr val="22D3EE"/>
                </a:solidFill>
              </a:defRPr>
            </a:pPr>
            <a:r>
              <a:t>Priority # &amp; Control Name                Category             Implementation Cost    Loss Avoided           Net Profit           Security ROI %</a:t>
            </a:r>
          </a:p>
          <a:p>
            <a:pPr>
              <a:spcBef>
                <a:spcPts val="400"/>
              </a:spcBef>
              <a:defRPr sz="850">
                <a:solidFill>
                  <a:srgbClr val="34D399"/>
                </a:solidFill>
              </a:defRPr>
            </a:pPr>
            <a:r>
              <a:t>#1 Vulnerability Patching Automation     Patch Management     Rs. 1,20,000           Rs. 16,67,509          Rs. 15,47,509        +1,289.6%</a:t>
            </a:r>
          </a:p>
          <a:p>
            <a:pPr>
              <a:spcBef>
                <a:spcPts val="400"/>
              </a:spcBef>
              <a:defRPr sz="850">
                <a:solidFill>
                  <a:srgbClr val="34D399"/>
                </a:solidFill>
              </a:defRPr>
            </a:pPr>
            <a:r>
              <a:t>#2 Air-Gapped Immutable Backups          Data Resilience      Rs. 70,000             Rs. 8,00,856           Rs. 7,30,856         +1,044.1%</a:t>
            </a:r>
          </a:p>
          <a:p>
            <a:pPr>
              <a:spcBef>
                <a:spcPts val="400"/>
              </a:spcBef>
              <a:defRPr sz="850">
                <a:solidFill>
                  <a:srgbClr val="34D399"/>
                </a:solidFill>
              </a:defRPr>
            </a:pPr>
            <a:r>
              <a:t>#3 Zero-Trust Multi-Factor Auth (MFA)    Identity &amp; Access    Rs. 60,000             Rs. 5,44,144           Rs. 4,84,144         +806.9%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#4 Cloudflare Next-Gen WAF               Perimeter Defense    Rs. 90,000             Rs. 8,04,384           Rs. 7,14,384         +793.8%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#5 24/7 Managed SOC Telemetry &amp; SIEM     Incident Response    Rs. 1,80,000           Rs. 15,88,104          Rs. 14,08,104        +782.3%</a:t>
            </a:r>
          </a:p>
          <a:p>
            <a:pPr>
              <a:spcBef>
                <a:spcPts val="400"/>
              </a:spcBef>
              <a:defRPr sz="850">
                <a:solidFill>
                  <a:srgbClr val="F8FAFC"/>
                </a:solidFill>
              </a:defRPr>
            </a:pPr>
            <a:r>
              <a:t>#6 Micro-Segmentation &amp; Isolation        Network Security     Rs. 1,50,000           Rs. 10,29,672          Rs. 8,79,672         +586.4%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#7 Employee Phishing Awareness           Human Layer          Rs. 40,000             Rs. 64,865             Rs. 24,865           +62.2%</a:t>
            </a:r>
          </a:p>
          <a:p>
            <a:pPr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#8 Next-Gen EDR / XDR Telemetry          Endpoint Defense     Rs. 80,000             Rs. 90,090             Rs. 10,090           +12.6%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2D3EE"/>
                </a:solidFill>
              </a:defRPr>
            </a:pPr>
            <a:r>
              <a:t>SIH WINNING PRESENTATION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Hackathon Demo Presentation Strategy &amp; Evaluation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STEP-BY-STEP LIVE DEMO FLOW (3 MINUTES)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1. Set The Problem Hook (30s):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'Cyber teams report CVEs, but CFOs speak in budgets. How does a leader spend a Rs 15 Lakh budget to save Rs 1.5 Crore in assets?'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2. Show The Baseline Bleeding (45s):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Point to the Customer DB (CVE-2024-3400). Show that unmitigated risk score is 69.2 and annual loss exposure is Rs 39.70 Lakhs.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3. Run 0/1 Knapsack Optimizer (45s):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Drag budget slider to Rs 15 Lakhs and click Run Optimizer. Watch risk drop from 69.2 ➔ 11.7, saving Rs 26.65 Lakhs net (+337% ROI).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4. Demonstrate Dual Defense (30s):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Switch to Website Scanner, scan a live domain, and show passive CVE discovery &amp; security grade.</a:t>
            </a:r>
          </a:p>
          <a:p>
            <a:pPr>
              <a:spcBef>
                <a:spcPts val="600"/>
              </a:spcBef>
              <a:defRPr b="1" sz="1000">
                <a:solidFill>
                  <a:srgbClr val="F8FAFC"/>
                </a:solidFill>
              </a:defRPr>
            </a:pPr>
            <a:r>
              <a:t>• 5. Executive PDF Export (30s):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Show instant CISO boardroom briefing and technical remediation roadmap.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182E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2D3EE"/>
                </a:solidFill>
              </a:defRPr>
            </a:pPr>
            <a:r>
              <a:t>ANTICIPATED JUDGE QUESTIONS &amp; ANSWERS</a:t>
            </a:r>
          </a:p>
          <a:p>
            <a:pPr>
              <a:spcBef>
                <a:spcPts val="600"/>
              </a:spcBef>
              <a:defRPr b="1" sz="950">
                <a:solidFill>
                  <a:srgbClr val="FBBF24"/>
                </a:solidFill>
              </a:defRPr>
            </a:pPr>
            <a:r>
              <a:t>▸ Q: Are these financial numbers arbitrary?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  A: No. We strictly follow the international FAIR (ISO/IEC 27005) standard. SLE and ALE are empirically derived from asset value, exposure factor, and CVSS exploitability metrics.</a:t>
            </a:r>
          </a:p>
          <a:p>
            <a:pPr>
              <a:spcBef>
                <a:spcPts val="600"/>
              </a:spcBef>
              <a:defRPr b="1" sz="950">
                <a:solidFill>
                  <a:srgbClr val="FBBF24"/>
                </a:solidFill>
              </a:defRPr>
            </a:pPr>
            <a:r>
              <a:t>▸ Q: How do you handle overlapping security controls?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  A: We implement compounding diminishing returns: Residual = Base × (1 - E_1) × (1 - E_2), preventing double counting and unrealistic savings claims.</a:t>
            </a:r>
          </a:p>
          <a:p>
            <a:pPr>
              <a:spcBef>
                <a:spcPts val="600"/>
              </a:spcBef>
              <a:defRPr b="1" sz="950">
                <a:solidFill>
                  <a:srgbClr val="FBBF24"/>
                </a:solidFill>
              </a:defRPr>
            </a:pPr>
            <a:r>
              <a:t>▸ Q: Can this handle custom enterprise CVE feeds?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  A: Yes. RESTful APIs (/api/assets and /api/vulnerabilities) support live feeds from Nessus, Qualys, and OpenVAS.</a:t>
            </a:r>
          </a:p>
          <a:p>
            <a:pPr>
              <a:spcBef>
                <a:spcPts val="600"/>
              </a:spcBef>
              <a:defRPr b="1" sz="950">
                <a:solidFill>
                  <a:srgbClr val="FBBF24"/>
                </a:solidFill>
              </a:defRPr>
            </a:pPr>
            <a:r>
              <a:t>▸ Q: What is the competitive innovation?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  A: Eliminates subjective heatmaps using discrete mathematical optimization and translates security into board-level ROI.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